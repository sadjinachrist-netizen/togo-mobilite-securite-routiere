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3D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3D2E"/>
                </a:solidFill>
                <a:latin typeface="Arial"/>
              </a:rPr>
              <a:t>Immatriculations annuelles par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Deux-roues</c:v>
                </c:pt>
              </c:strCache>
            </c:strRef>
          </c:tx>
          <c:spPr>
            <a:solidFill>
              <a:srgbClr val="C8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2014</c:v>
                  </c:pt>
                  <c:pt idx="6">
                    <c:v>2016</c:v>
                  </c:pt>
                  <c:pt idx="7">
                    <c:v>2018</c:v>
                  </c:pt>
                  <c:pt idx="8">
                    <c:v>2020</c:v>
                  </c:pt>
                  <c:pt idx="9">
                    <c:v>2022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1513</c:v>
                </c:pt>
                <c:pt idx="1">
                  <c:v>13883</c:v>
                </c:pt>
                <c:pt idx="2">
                  <c:v>10639</c:v>
                </c:pt>
                <c:pt idx="3">
                  <c:v>27791</c:v>
                </c:pt>
                <c:pt idx="4">
                  <c:v>38638</c:v>
                </c:pt>
                <c:pt idx="5">
                  <c:v>51134</c:v>
                </c:pt>
                <c:pt idx="6">
                  <c:v>45341</c:v>
                </c:pt>
                <c:pt idx="7">
                  <c:v>43063</c:v>
                </c:pt>
                <c:pt idx="8">
                  <c:v>44850</c:v>
                </c:pt>
                <c:pt idx="9">
                  <c:v>67639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Quatre-roues et plus</c:v>
                </c:pt>
              </c:strCache>
            </c:strRef>
          </c:tx>
          <c:spPr>
            <a:solidFill>
              <a:srgbClr val="0F6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2014</c:v>
                  </c:pt>
                  <c:pt idx="6">
                    <c:v>2016</c:v>
                  </c:pt>
                  <c:pt idx="7">
                    <c:v>2018</c:v>
                  </c:pt>
                  <c:pt idx="8">
                    <c:v>2020</c:v>
                  </c:pt>
                  <c:pt idx="9">
                    <c:v>2022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5316</c:v>
                </c:pt>
                <c:pt idx="1">
                  <c:v>7953</c:v>
                </c:pt>
                <c:pt idx="2">
                  <c:v>9341</c:v>
                </c:pt>
                <c:pt idx="3">
                  <c:v>13623</c:v>
                </c:pt>
                <c:pt idx="4">
                  <c:v>10740</c:v>
                </c:pt>
                <c:pt idx="5">
                  <c:v>17834</c:v>
                </c:pt>
                <c:pt idx="6">
                  <c:v>18779</c:v>
                </c:pt>
                <c:pt idx="7">
                  <c:v>21283</c:v>
                </c:pt>
                <c:pt idx="8">
                  <c:v>23890</c:v>
                </c:pt>
                <c:pt idx="9">
                  <c:v>26131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Véhicules immatriculés dans l'année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BFD6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3101</c:v>
                </c:pt>
                <c:pt idx="1">
                  <c:v>7889</c:v>
                </c:pt>
                <c:pt idx="2">
                  <c:v>8155</c:v>
                </c:pt>
                <c:pt idx="3">
                  <c:v>5401</c:v>
                </c:pt>
                <c:pt idx="4">
                  <c:v>5390</c:v>
                </c:pt>
                <c:pt idx="5">
                  <c:v>2851</c:v>
                </c:pt>
                <c:pt idx="6">
                  <c:v>5393</c:v>
                </c:pt>
                <c:pt idx="7">
                  <c:v>5181</c:v>
                </c:pt>
                <c:pt idx="8">
                  <c:v>5814</c:v>
                </c:pt>
                <c:pt idx="9">
                  <c:v>5402</c:v>
                </c:pt>
                <c:pt idx="10">
                  <c:v>7130</c:v>
                </c:pt>
                <c:pt idx="11">
                  <c:v>7392</c:v>
                </c:pt>
                <c:pt idx="12">
                  <c:v>7507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Létalité (%)</c:v>
                </c:pt>
              </c:strCache>
            </c:strRef>
          </c:tx>
          <c:spPr>
            <a:solidFill>
              <a:srgbClr val="C8453B"/>
            </a:solidFill>
            <a:ln w="38100" cap="flat">
              <a:solidFill>
                <a:srgbClr val="C845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01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53B"/>
              </a:solidFill>
              <a:ln w="9525" cap="flat">
                <a:solidFill>
                  <a:srgbClr val="C845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15.2</c:v>
                </c:pt>
                <c:pt idx="1">
                  <c:v>9.4</c:v>
                </c:pt>
                <c:pt idx="2">
                  <c:v>9.2</c:v>
                </c:pt>
                <c:pt idx="3">
                  <c:v>11.8</c:v>
                </c:pt>
                <c:pt idx="4">
                  <c:v>14.9</c:v>
                </c:pt>
                <c:pt idx="5">
                  <c:v>16.6</c:v>
                </c:pt>
                <c:pt idx="6">
                  <c:v>9.5</c:v>
                </c:pt>
                <c:pt idx="7">
                  <c:v>11.2</c:v>
                </c:pt>
                <c:pt idx="8">
                  <c:v>10.2</c:v>
                </c:pt>
                <c:pt idx="9">
                  <c:v>10.7</c:v>
                </c:pt>
                <c:pt idx="10">
                  <c:v>8.1</c:v>
                </c:pt>
                <c:pt idx="11">
                  <c:v>9.2</c:v>
                </c:pt>
                <c:pt idx="12">
                  <c:v>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01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Accidents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Létalité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01A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défi : mesurer l'évolution de la mobilité et de la sécurité routière, et recommander. Le tableau de bord en ligne est le livrable principal ; ce rapport en expose la méthode et les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build_data.py est livré dans l'archive : il reconstruit toutes les tables à partir des fichiers bruts.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taux sont recalculés à partir des effectifs bruts : la série de taux publiée par la source est mal étiquetée (slide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constats sont le résultat d'un travail de vérification, pas des obstacles : ils changent l'interprétation des chiffres.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Valeurs réelles issues de la série 1990-2022 ; le graphique montre une année sur deux à quatre pour la lisibilité, la série complète est dans le tableau de bord.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létalité passe de 15,2 % à 9,1 % : les soins d'urgence et l'équipement progressent plus vite que la prévention. 2015 est une rupture de série.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Savanes n'ont que 47 % de réseau revêtu. Mô est la seule préfecture sans aucune route nationale classée recensée.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croisement avec les permis moto est le cœur du diagnostic : là où la formation est absente ou non encadrée, la conduite s'apprend sans contrôle.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L'indice de priorité du tableau de bord (40 % accès à la formation, 30 % densité du réseau, 30 % qualité) classe Mô, Akébou, Bas-Mono, Oti-Sud, Moyen-Mono et Est-Mono en tête.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limites sont des lacunes de l'open data, retournées en recommandation n°6.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togo-mobilite-securite-routiere.streamlit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ogo-mobilite-securite-routiere.streamlit.app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· ADMINISTRATION TERRITORIALE ET MOBILITÉ · DÉFI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Togo roule à moto, mais forme des automobilistes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: immatriculations, permis, accidents, état et tracé du réseau routier, auto-écoles et population, préfecture par préfecture.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interactif : </a:t>
            </a:r>
            <a:pPr indent="0" marL="0">
              <a:buNone/>
            </a:pPr>
            <a:r>
              <a:rPr lang="en-US" sz="125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togo-mobilite-securite-routiere.streamlit.app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SADJINA Christ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Plotly · 7 pages interactives · octobre 2026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868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444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véhicules immatriculés sont des deux-roues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587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et 683 morts en 2022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154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39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730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sans auto-école agréée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: sept sources, un pipeline, sept vues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est reproductible par une seule commande, contrôles de cohérence compris.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417320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417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87452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fichiers bruts, dont un export qui regroupe 13 indicateurs de transport sans colonne de thème — c'est là que se trouvent les accidents. Deux pièges d'étiquetage identifiés (slide 4).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1417320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833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1417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87452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Longueurs de route calculées par haversine sur les tracés MULTILINESTRING. Hiérarchie de population reconstruite et validée. Référentiel des 39 préfectures complété.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1456" y="1417320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9145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39512" y="1417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91456" y="187452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réseau rattaché aux tracés par numéro de route nationale. Réseau, auto-écoles et accidents rapportés à la population 2022, par région et préfecture.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94576" y="1417320"/>
            <a:ext cx="365760" cy="365760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14173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187452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pages, filtres territoriaux persistants, carte du réseau colorée par état, exports CSV, page méthodologie et limites.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" y="3950208"/>
            <a:ext cx="79735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sept sources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classées (799 tronçons géolocalisés, 12/2024) · Auto-écoles (272 points, 01/2025) · État du réseau (87 tronçons, 2020) · Immatriculations par type (1990-2022) · Permis par catégorie (2007-2022) · Accidents, morts et blessés (2010-2022) · Population RGPH-5 (2022). Contours administratifs : geoBoundaries (OSM, 2017), source externe en licence ouverte.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diagnostic en six chiffres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pays qui se motorise vite, se forme peu, et dont le réseau se dégrade inégalement.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371600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72,1 %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2092147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93 770 véhicules immatriculés en 2022 sont des deux-roues — contre 22 % en 1990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984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371600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19,7 %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19856" y="2092147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des permis délivrés sont des permis moto (A) : 4 837 sur 24 598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984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371600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092147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en 2022, 683 morts et 9 918 blessés — le plus haut niveau depuis 2012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2953512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9,1 %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674059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létalité, contre 15,2 % en 2010 : on survit mieux, mais les accidents sont deux fois plus nombreux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9856" y="2953512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 / 272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674059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auto-écoles non agréées — et 23 préfectures sur 39 n'en comptent aucune qui le soit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2953512"/>
            <a:ext cx="239572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3 373 km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3674059"/>
            <a:ext cx="2395728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réseau classé, dont 563 km en mauvais état et 450 km en travaux (évaluation 2020)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constats sur la qualité des données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Identifiés par recoupement, corrigés dans le tableau de bord, et documentés dans la page Méthodologie.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344168"/>
            <a:ext cx="376732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« Accidents mortels /100 000 hab » compte tous les accidents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série vaut 92,7 en 2022. Or 7 507 accidents ÷ 8 095 498 habitants × 100 000 = 92,7 — et la vérification tient aussi sur 2010 (3 101 ÷ 6,2 M = 50,0). Le véritable taux de mortalité routière est de 8,4 morts pour 100 000 habitants, soit onze fois moins que le chiffre publié sous ce nom.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91456" y="1344168"/>
            <a:ext cx="376732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« Parc automobile immatriculé » est un flux, pas un stock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série décroît plusieurs années (85 748 en 2015, 64 120 en 2016) : elle ne peut décrire un parc cumulé. Ce sont les véhicules immatriculés dans l'année. Recoupement exact entre deux fichiers : 93 770 − 67 639 deux-roues = 26 131, précisément la valeur publiée pour « 4 roues et plus ».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3081528"/>
            <a:ext cx="37673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La préfecture de Mô est absente des deux jeux géolocalisés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route nationale classée, ni auto-école : 52 448 habitants invisibles dans les données. Elle est réintégrée au référentiel avec des valeurs nulles — c'est un résultat, pas une donnée manquante.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30175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91456" y="3081528"/>
            <a:ext cx="376732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 vraiment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d'accident en dessous du niveau national : impossible de savoir où l'on meurt, ni sur quel axe. Le croisement accidents × réseau × territoire — le plus utile pour agir — n'est pas réalisable avec les données publiées. Rupture de série en 2015, signalée et non corrigée.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motorisation à deux roues, une formation à quatre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immatriculés par type et permis délivrés par catégorie — le décalage structurant du sujet.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2801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43016" y="1344168"/>
            <a:ext cx="27157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 de deux-roues en 2022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22 % en 1990. La motorisation du Togo s'est faite en motos : plus accessibles, plus souples en ville, et nettement plus exposées en cas de choc.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15000" y="2743200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43016" y="2807208"/>
            <a:ext cx="27157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14 motos immatriculées par permis A délivré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4 837 permis moto en 2022 contre 16 988 permis voiture. L'effort de 2022 (211 permis A en 2021) montre que la capacité existe, mais il n'est pas encore installé dans la durée.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séries d'immatriculation comptent les véhicules enregistrés chaque année, non le parc en circulation : ni les sorties de parc ni les véhicules non immatriculés ne sont connus.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d'accidents, mais moins mortels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Accidents, morts et blessés de 2010 à 2022, et létalité (part des accidents qui tuent).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28016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17336" y="135331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17336" y="179222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morts en 2022, soit près de 2 par jour · 9 918 blessés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89320" y="22860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17336" y="235915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17336" y="279806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morts pour 100 000 habitants — et non 92,7 comme publié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89320" y="329184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17336" y="3355848"/>
            <a:ext cx="2441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lectures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valeur absolue la situation se dégrade ; rapportée à la population elle est stable ; rapportée aux véhicules elle s'améliore. La hausse suit d'abord la croissance du parc.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réseau de 3 373 km, inégalement entretenu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Tracés géolocalisés colorés par état réel — page « Réseau routier » du tableau de bord.</a:t>
            </a:r>
            <a:endParaRPr lang="en-US" sz="1200" dirty="0"/>
          </a:p>
        </p:txBody>
      </p:sp>
      <p:pic>
        <p:nvPicPr>
          <p:cNvPr id="4" name="Image 0" descr="D:\coursprojets\Data_Challenges_Togo_AI_Lab\Aministration_Territoriale_Mobilité_Defi_1\rapport\captures\carte_res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66344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4663440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D6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297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: bon état · Jaune : état moyen · Rouge : mauvais état · Bleu : travaux en cours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49240" y="123444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FBF3DD"/>
          </a:solidFill>
          <a:ln w="12700">
            <a:solidFill>
              <a:srgbClr val="FBF3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77256" y="1298448"/>
            <a:ext cx="30815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l'état a été rattaché aux tracés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est publié par tronçon administratif nommé (87 tronçons), les tracés portent un autre libellé. Les deux ont été joints par numéro de route nationale : les 50 RN de la table d'état sont toutes retrouvées, 644 tronçons sur 799 reçoivent un état. Chaque tronçon prend l'état dominant de sa RN — approximation assumée.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43200"/>
          <a:ext cx="3337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31520"/>
                <a:gridCol w="68580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revêtu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/ hab.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4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Lomé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845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349240" y="42793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classé recense les routes nationales et grandes voiries, pas le maillage urbain local : l'indicateur mesure l'accès au réseau structurant, pertinent pour l'enclavement rural, trompeur pour la congestion urbaine.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Former les conducteurs : l'angle mort du dispositif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auto-écoles recensées, dont la moitié hors agrément et quatre sur cinq dans le Grand Lomé.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914400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Auto-écoles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agréées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Hab. / école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45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Lomé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10 274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70 394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66 294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136 329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Savanes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114 352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0896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" y="3172968"/>
            <a:ext cx="367588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de 13 à 1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habitant des Plateaux dispose de 136 329 habitants par auto-école, contre 10 274 au Grand Lomé. 78 % des auto-écoles du pays sont concentrées dans la capitale.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91456" y="1353312"/>
            <a:ext cx="16642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791456" y="1920240"/>
            <a:ext cx="16642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auto-écoles non agréées sur 272 recensées (50,7 %)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0" y="12801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94576" y="1353312"/>
            <a:ext cx="16642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39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894576" y="1920240"/>
            <a:ext cx="16642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sans aucune auto-école agréée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26060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91456" y="2670048"/>
            <a:ext cx="37673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Quinze préfectures n'ont aucune auto-école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Haho (305 096 habitants), Dankpen, Est-Mono, Oti-Sud, Tandjoaré, Kéran, Kpendjal-Ouest, Avé, Moyen-Mono, Kpendjal, Doufelgou, Binah, Akébou, Danyi et Mô. Huit autres en ont, mais aucune agréée. Au total, 2 932 492 habitants vivent dans une préfecture dépourvue de structure de formation encadrée — au moment où le parc deux-roues explose.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recommandations territorialisées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Chacune rattachée à un territoire nommé, un nombre d'habitants et une cible chiffrée.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47472" cy="347472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261872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du permis moto la priorité de la formation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67 639 deux-roues immatriculés pour 4 837 permis A. Cible : porter la part des permis A à 40 % en trois ans, par des sessions décentralisées et un format court pour les conducteurs déjà en circulation.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02352" y="1261872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Implanter une auto-école agréée dans les 23 préfectures qui n'en ont aucune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2 932 492 habitants concernés. Priorité : Haho, Tchamba, Dankpen, Yoto, Est-Mono. Le dispositif d'antennes agréées (47 existantes) évite d'avoir à créer 23 écoles complètes.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47472" cy="347472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77440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Régulariser ou fermer les 138 auto-écoles non agréées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mise en conformité avec délai, puis registre public consultable avant inscription. Fermer sans alternative aggraverait le déficit : la régularisation doit précéder la sanction.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395728"/>
            <a:ext cx="347472" cy="347472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377440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l'entretien sur les routes nationales les plus dégradées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 km en mauvais état sur 2 199 évalués. Cible : porter chaque région au-dessus de 60 % de réseau revêtu — les Savanes sont à 47 %.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347472" cy="347472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493008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Désenclaver Mô et les préfectures sans réseau structurant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52 448 habitants dans la seule préfecture sans aucune route nationale classée recensée. Treize préfectures restent sous 0,30 m de route par habitant.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511296"/>
            <a:ext cx="347472" cy="347472"/>
          </a:xfrm>
          <a:prstGeom prst="ellipse">
            <a:avLst/>
          </a:prstGeom>
          <a:solidFill>
            <a:srgbClr val="0F6E4E"/>
          </a:solidFill>
          <a:ln w="12700">
            <a:solidFill>
              <a:srgbClr val="0F6E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02352" y="3493008"/>
            <a:ext cx="3584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des données de sécurité routière localisées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accidents au moins à la préfecture, corriger l'intitulé de la série de taux, documenter la rupture de 2015. Sans cela, aucune politique ne peut être ciblée ni évaluée.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Limites, perspectives et livrable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ces données ne disent pas encore — et ce que le tableau de bord permet de faire dès maintenant.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d'accident sous le niveau national : impossible de localiser le risque.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immatriculations sont un flux annuel, pas un parc en circulation.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de série en 2015, signalée et non corrigée.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réseau 2020, tracés fin 2024, auto-écoles début 2025, population 2022 : millésimes proches mais distincts.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administratifs 2017 : trois préfectures récentes fusionnées sur la carte.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572768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Géolocaliser les accidents pour croiser risque × état du réseau × trafic.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distance de chaque chef-lieu à l'auto-école agréée la plus proche.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l'indice de priorité chaque année à partir du même pipeline.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contrôle technique et l'âge du parc, non publiés à ce jour.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1200" dirty="0"/>
          </a:p>
        </p:txBody>
      </p:sp>
      <p:pic>
        <p:nvPicPr>
          <p:cNvPr id="9" name="Image 0" descr="D:\coursprojets\Data_Challenges_Togo_AI_Lab\Aministration_Territoriale_Mobilité_Defi_1\rapport\captures\v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72768"/>
            <a:ext cx="2651760" cy="1463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35040" y="1572768"/>
            <a:ext cx="26517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D6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31272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pages · filtres territoriaux persistants · carte du réseau par état · exports CSV · méthodologie intégrée</a:t>
            </a:r>
            <a:endParaRPr lang="en-US" sz="950" dirty="0"/>
          </a:p>
          <a:p>
            <a:pPr indent="0" marL="0">
              <a:buNone/>
            </a:pPr>
            <a:r>
              <a:rPr lang="en-US" sz="105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https://togo-mobilite-securite-routiere.streamlit.app</a:t>
            </a:r>
            <a:endParaRPr lang="en-US" sz="950" dirty="0"/>
          </a:p>
          <a:p>
            <a:pPr indent="0" marL="0">
              <a:buNone/>
            </a:pPr>
            <a:r>
              <a:rPr lang="en-US" sz="900" i="1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données brutes et pipeline dans l'archive jointe.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ne sécurise pas une route qu'on n'a pas cartographiée, ni un conducteur qu'on n'a pas formé.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et sécurité routière au Togo  ·  SADJINA Christ  ·  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Mobilité et sécurité routière au Togo — Défi 1</dc:title>
  <dc:subject>PptxGenJS Presentation</dc:subject>
  <dc:creator>SADJINA Christ</dc:creator>
  <cp:lastModifiedBy>SADJINA Christ</cp:lastModifiedBy>
  <cp:revision>1</cp:revision>
  <dcterms:created xsi:type="dcterms:W3CDTF">2026-10-11T18:43:07Z</dcterms:created>
  <dcterms:modified xsi:type="dcterms:W3CDTF">2026-10-11T18:43:07Z</dcterms:modified>
</cp:coreProperties>
</file>